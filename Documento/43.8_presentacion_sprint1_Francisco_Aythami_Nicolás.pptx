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05" r:id="rId5"/>
    <p:sldId id="306" r:id="rId6"/>
    <p:sldId id="307" r:id="rId7"/>
    <p:sldId id="308" r:id="rId8"/>
    <p:sldId id="309" r:id="rId9"/>
    <p:sldId id="321" r:id="rId10"/>
    <p:sldId id="319" r:id="rId11"/>
    <p:sldId id="310" r:id="rId12"/>
    <p:sldId id="320" r:id="rId13"/>
    <p:sldId id="315" r:id="rId14"/>
    <p:sldId id="316" r:id="rId15"/>
    <p:sldId id="318" r:id="rId1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82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Marcador de posición de fech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F1077DB-935E-4A0A-947A-D283B9F9F452}" type="datetimeFigureOut">
              <a:rPr lang="en-US" smtClean="0"/>
              <a:t>3/2/2025</a:t>
            </a:fld>
            <a:endParaRPr lang="en-US" dirty="0"/>
          </a:p>
        </p:txBody>
      </p:sp>
      <p:sp>
        <p:nvSpPr>
          <p:cNvPr id="4" name="Marcador de posición de pie de página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EDBDA2-4480-4D82-8886-1B64A7ECBBAC}" type="datetimeFigureOut">
              <a:rPr lang="en-US" noProof="0" smtClean="0"/>
              <a:t>3/2/2025</a:t>
            </a:fld>
            <a:endParaRPr lang="en-U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" noProof="0"/>
              <a:t>Editar estilos de texto del patrón</a:t>
            </a:r>
          </a:p>
          <a:p>
            <a:pPr lvl="1" rtl="0"/>
            <a:r>
              <a:rPr lang="es" noProof="0"/>
              <a:t>Segundo nivel</a:t>
            </a:r>
          </a:p>
          <a:p>
            <a:pPr lvl="2" rtl="0"/>
            <a:r>
              <a:rPr lang="es" noProof="0"/>
              <a:t>Tercer nivel</a:t>
            </a:r>
          </a:p>
          <a:p>
            <a:pPr lvl="3" rtl="0"/>
            <a:r>
              <a:rPr lang="es" noProof="0"/>
              <a:t>Cuarto nivel</a:t>
            </a:r>
          </a:p>
          <a:p>
            <a:pPr lvl="4" rtl="0"/>
            <a:r>
              <a:rPr lang="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FDDBACE-0F8F-43FD-98F0-DEE13552DADA}" type="slidenum">
              <a:rPr lang="en-US" noProof="0" smtClean="0"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FDDBACE-0F8F-43FD-98F0-DEE13552DADA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8160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 rtlCol="0"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4" name="Marcador de contenido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rtlCol="0"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 con imagen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rtlCol="0"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 rtlCol="0"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6" name="Marcador de conteni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 con imagen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 rtlCol="0"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 rtlCol="0"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6" name="Marcador de conteni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 rtlCol="0"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conteni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4" name="Marcador de posición de imagen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 rtlCol="0"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Marcador de conteni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6" name="Marcador de conteni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9" name="Marcador de conteni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6" name="Marcador de conteni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 rtlCol="0"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9" name="Marcador de conteni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9" name="Marcador de conteni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 con imagen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24" name="Título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rtlCol="0"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23" name="Marcador de posición de texto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 rtlCol="0">
            <a:noAutofit/>
          </a:bodyPr>
          <a:lstStyle>
            <a:lvl1pPr>
              <a:defRPr>
                <a:noFill/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8" name="Marcador de posición de texto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 rtlCol="0">
            <a:noAutofit/>
          </a:bodyPr>
          <a:lstStyle>
            <a:lvl1pPr>
              <a:defRPr>
                <a:noFill/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62" name="Marcador de posición de texto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 rtlCol="0">
            <a:noAutofit/>
          </a:bodyPr>
          <a:lstStyle>
            <a:lvl1pPr>
              <a:defRPr>
                <a:noFill/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93" name="Marcador de posición de texto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 rtlCol="0">
            <a:noAutofit/>
          </a:bodyPr>
          <a:lstStyle>
            <a:lvl1pPr>
              <a:defRPr>
                <a:noFill/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pic>
        <p:nvPicPr>
          <p:cNvPr id="120" name="Gráfico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6" name="Marcador de conteni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9" name="Marcador de conteni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 rtlCol="0"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ítulo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rtlCol="0"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 rtlCol="0"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 rtl="0"/>
            <a:r>
              <a:rPr lang="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s" noProof="0"/>
              <a:t>Haga clic para modificar los estilos de texto del patrón</a:t>
            </a:r>
          </a:p>
          <a:p>
            <a:pPr lvl="1" rtl="0"/>
            <a:r>
              <a:rPr lang="es" noProof="0"/>
              <a:t>Segundo nivel</a:t>
            </a:r>
          </a:p>
          <a:p>
            <a:pPr lvl="2" rtl="0"/>
            <a:r>
              <a:rPr lang="es" noProof="0"/>
              <a:t>Tercer nivel</a:t>
            </a:r>
          </a:p>
          <a:p>
            <a:pPr lvl="3" rtl="0"/>
            <a:r>
              <a:rPr lang="es" noProof="0"/>
              <a:t>Cuarto nivel</a:t>
            </a:r>
          </a:p>
          <a:p>
            <a:pPr lvl="4" rtl="0"/>
            <a:r>
              <a:rPr lang="es" noProof="0"/>
              <a:t>Quinto nivel</a:t>
            </a: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rtlCol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jp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ythamiPV/Reserly" TargetMode="External"/><Relationship Id="rId2" Type="http://schemas.openxmlformats.org/officeDocument/2006/relationships/hyperlink" Target="https://www.figma.com/design/M87p0PfJuhE1bq51WpVQs4/Reserly?node-id=0-1&amp;t=6vBebie4Pjv9fZOe-1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trello.com/invite/b/67a62f6bffa16fc46760a77b/ATTI9789d2d7db6ffa16c1a8e1291604a1999397688E/reserly" TargetMode="External"/><Relationship Id="rId4" Type="http://schemas.openxmlformats.org/officeDocument/2006/relationships/hyperlink" Target="https://alumnosulpgc-my.sharepoint.com/:v:/g/personal/francisco_malillos101_alu_ulpgc_es/ER8sDg0AeulBjOcbqFEPq3oBzummPNHGo65uUaLsiE5vWg?nav=eyJyZWZlcnJhbEluZm8iOnsicmVmZXJyYWxBcHAiOiJPbmVEcml2ZUZvckJ1c2luZXNzIiwicmVmZXJyYWxBcHBQbGF0Zm9ybSI6IldlYiIsInJlZmVycmFsTW9kZSI6InZpZXciLCJyZWZlcnJhbFZpZXciOiJNeUZpbGVzTGlua0NvcHkifX0&amp;e=V1zSpU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6135286"/>
            <a:ext cx="12192000" cy="557784"/>
          </a:xfrm>
        </p:spPr>
        <p:txBody>
          <a:bodyPr rtlCol="0"/>
          <a:lstStyle/>
          <a:p>
            <a:pPr rtl="0"/>
            <a:r>
              <a:rPr lang="es" sz="1800" dirty="0"/>
              <a:t>Francisco Malillos castellano,aythami pérez vega y nicolás ruiz barreto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224ECE-AFA5-6302-E24D-CC9CB928B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159" y="535431"/>
            <a:ext cx="7685524" cy="497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/>
          <a:lstStyle/>
          <a:p>
            <a:pPr rtl="0"/>
            <a:r>
              <a:rPr lang="es" dirty="0"/>
              <a:t>INDICE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rtlCol="0"/>
          <a:lstStyle/>
          <a:p>
            <a:pPr rtl="0"/>
            <a:r>
              <a:rPr lang="es" dirty="0"/>
              <a:t>Descripción del Proyecto Web</a:t>
            </a:r>
          </a:p>
          <a:p>
            <a:pPr rtl="0"/>
            <a:r>
              <a:rPr lang="es" dirty="0"/>
              <a:t>Requisitos funcionales</a:t>
            </a:r>
          </a:p>
          <a:p>
            <a:pPr rtl="0"/>
            <a:r>
              <a:rPr lang="es" dirty="0"/>
              <a:t>Presentación de Mockups</a:t>
            </a:r>
          </a:p>
          <a:p>
            <a:pPr rtl="0"/>
            <a:r>
              <a:rPr lang="es" dirty="0"/>
              <a:t>Presentación de Templates</a:t>
            </a:r>
          </a:p>
          <a:p>
            <a:pPr rtl="0"/>
            <a:r>
              <a:rPr lang="es" dirty="0"/>
              <a:t>Evolución del Proyecto</a:t>
            </a:r>
          </a:p>
          <a:p>
            <a:pPr rtl="0"/>
            <a:r>
              <a:rPr lang="es" dirty="0"/>
              <a:t>Enlaces</a:t>
            </a:r>
          </a:p>
          <a:p>
            <a:pPr rtl="0"/>
            <a:endParaRPr lang="en-US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rtlCol="0"/>
          <a:lstStyle/>
          <a:p>
            <a:pPr rtl="0"/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4">
            <a:extLst>
              <a:ext uri="{FF2B5EF4-FFF2-40B4-BE49-F238E27FC236}">
                <a16:creationId xmlns:a16="http://schemas.microsoft.com/office/drawing/2014/main" id="{45961E4D-DF15-4A07-6CD2-EBA4624C94BF}"/>
              </a:ext>
            </a:extLst>
          </p:cNvPr>
          <p:cNvSpPr txBox="1">
            <a:spLocks/>
          </p:cNvSpPr>
          <p:nvPr/>
        </p:nvSpPr>
        <p:spPr>
          <a:xfrm>
            <a:off x="623823" y="1977095"/>
            <a:ext cx="10351685" cy="4479925"/>
          </a:xfrm>
          <a:prstGeom prst="rect">
            <a:avLst/>
          </a:prstGeom>
        </p:spPr>
        <p:txBody>
          <a:bodyPr rtlCol="0"/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solidFill>
                  <a:schemeClr val="bg1"/>
                </a:solidFill>
              </a:rPr>
              <a:t>Nuestra página web ofrece una solución rápida y sencilla para reservar servicios de peluquería, barbería, manicura, masajes y más. Con una interfaz intuitiva y accesible desde cualquier dispositivo, los clientes pueden encontrar profesionales cercanos, ver su disponibilidad y agendar citas en segundos, sin llamadas ni esperas.</a:t>
            </a:r>
          </a:p>
          <a:p>
            <a:r>
              <a:rPr lang="es-ES" dirty="0">
                <a:solidFill>
                  <a:schemeClr val="bg1"/>
                </a:solidFill>
              </a:rPr>
              <a:t>Para los negocios, nuestra plataforma optimiza la gestión de reservas con recordatorios automáticos y herramientas de organización, reduciendo cancelaciones y mejorando la productividad. Además, permite crear un perfil profesional con reseñas y promociones para atraer nuevos clientes.</a:t>
            </a:r>
          </a:p>
          <a:p>
            <a:r>
              <a:rPr lang="es-ES" dirty="0">
                <a:solidFill>
                  <a:schemeClr val="bg1"/>
                </a:solidFill>
              </a:rPr>
              <a:t>Con un diseño moderno y funcional, nuestra web digitaliza el sector de la belleza y el bienestar, ofreciendo comodidad y eficiencia a todos.</a:t>
            </a:r>
            <a:endParaRPr lang="es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548D133-7B32-2B41-8E32-F1E317AE5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791761"/>
            <a:ext cx="10479024" cy="557784"/>
          </a:xfrm>
        </p:spPr>
        <p:txBody>
          <a:bodyPr rtlCol="0"/>
          <a:lstStyle/>
          <a:p>
            <a:pPr algn="ctr" rtl="0"/>
            <a:r>
              <a:rPr lang="es-ES" dirty="0"/>
              <a:t>D</a:t>
            </a:r>
            <a:r>
              <a:rPr lang="es" dirty="0"/>
              <a:t>escripción del proyecto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52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48" y="562356"/>
            <a:ext cx="10479024" cy="557784"/>
          </a:xfrm>
        </p:spPr>
        <p:txBody>
          <a:bodyPr rtlCol="0"/>
          <a:lstStyle/>
          <a:p>
            <a:pPr rtl="0"/>
            <a:r>
              <a:rPr lang="es" dirty="0"/>
              <a:t>Requisitos FUNCIONALES</a:t>
            </a:r>
            <a:br>
              <a:rPr lang="en-US" dirty="0"/>
            </a:br>
            <a:endParaRPr lang="en-U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A94AC61-4F6E-98E2-D42B-F2114BBA12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7341" y="1536827"/>
            <a:ext cx="4323419" cy="4479925"/>
          </a:xfrm>
        </p:spPr>
        <p:txBody>
          <a:bodyPr rtlCol="0">
            <a:normAutofit/>
          </a:bodyPr>
          <a:lstStyle/>
          <a:p>
            <a:pPr marL="457200" indent="-457200" rtl="0">
              <a:buFont typeface="+mj-lt"/>
              <a:buAutoNum type="arabicPeriod"/>
            </a:pPr>
            <a:r>
              <a:rPr lang="es" dirty="0"/>
              <a:t>Gestión de Citas</a:t>
            </a:r>
          </a:p>
          <a:p>
            <a:pPr marL="457200" indent="-457200" rtl="0">
              <a:buFont typeface="+mj-lt"/>
              <a:buAutoNum type="arabicPeriod"/>
            </a:pPr>
            <a:r>
              <a:rPr lang="es" dirty="0"/>
              <a:t>Perfiles de Negocios</a:t>
            </a:r>
          </a:p>
          <a:p>
            <a:pPr marL="457200" indent="-457200" rtl="0">
              <a:buFont typeface="+mj-lt"/>
              <a:buAutoNum type="arabicPeriod"/>
            </a:pPr>
            <a:r>
              <a:rPr lang="es" dirty="0"/>
              <a:t>Confirmación automáticas</a:t>
            </a:r>
          </a:p>
          <a:p>
            <a:pPr marL="457200" indent="-457200" rtl="0">
              <a:buFont typeface="+mj-lt"/>
              <a:buAutoNum type="arabicPeriod"/>
            </a:pPr>
            <a:r>
              <a:rPr lang="es" dirty="0"/>
              <a:t>Calendario de disponibilidad</a:t>
            </a:r>
          </a:p>
          <a:p>
            <a:pPr marL="457200" indent="-457200" rtl="0">
              <a:buFont typeface="+mj-lt"/>
              <a:buAutoNum type="arabicPeriod"/>
            </a:pPr>
            <a:r>
              <a:rPr lang="es" dirty="0"/>
              <a:t>Interfaz Intuitiva</a:t>
            </a:r>
          </a:p>
          <a:p>
            <a:pPr marL="0" indent="0" rtl="0">
              <a:buNone/>
            </a:pPr>
            <a:endParaRPr lang="es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rtlCol="0"/>
          <a:lstStyle/>
          <a:p>
            <a:pPr rtl="0"/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Marcador de contenido 4">
            <a:extLst>
              <a:ext uri="{FF2B5EF4-FFF2-40B4-BE49-F238E27FC236}">
                <a16:creationId xmlns:a16="http://schemas.microsoft.com/office/drawing/2014/main" id="{3DD417E9-5CED-8F65-CAAE-C58FC79DA935}"/>
              </a:ext>
            </a:extLst>
          </p:cNvPr>
          <p:cNvSpPr txBox="1">
            <a:spLocks/>
          </p:cNvSpPr>
          <p:nvPr/>
        </p:nvSpPr>
        <p:spPr>
          <a:xfrm>
            <a:off x="6111242" y="3751389"/>
            <a:ext cx="5762752" cy="44799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" dirty="0"/>
              <a:t>6.     Registro de Usuarios</a:t>
            </a:r>
          </a:p>
          <a:p>
            <a:pPr marL="0" indent="0">
              <a:buNone/>
            </a:pPr>
            <a:r>
              <a:rPr lang="es" dirty="0"/>
              <a:t>7.     Buscador de Negocios</a:t>
            </a:r>
          </a:p>
          <a:p>
            <a:pPr marL="0" indent="0">
              <a:buNone/>
            </a:pPr>
            <a:r>
              <a:rPr lang="es" dirty="0"/>
              <a:t>8.     Visualización de Precios</a:t>
            </a:r>
          </a:p>
          <a:p>
            <a:pPr marL="0" indent="0">
              <a:buNone/>
            </a:pPr>
            <a:r>
              <a:rPr lang="es" dirty="0"/>
              <a:t>9.     Acceso a Historial de Reservas</a:t>
            </a:r>
          </a:p>
          <a:p>
            <a:pPr marL="0" indent="0">
              <a:buNone/>
            </a:pPr>
            <a:r>
              <a:rPr lang="es" dirty="0"/>
              <a:t>10.  Actualización Automática de Agenda</a:t>
            </a:r>
          </a:p>
          <a:p>
            <a:pPr marL="457200" indent="-457200">
              <a:buFont typeface="+mj-lt"/>
              <a:buAutoNum type="arabicPeriod"/>
            </a:pPr>
            <a:endParaRPr lang="es" dirty="0"/>
          </a:p>
        </p:txBody>
      </p:sp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2CB087B-CB5E-35C5-3AD8-D1A6E1AF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526" y="226300"/>
            <a:ext cx="10479024" cy="557784"/>
          </a:xfrm>
        </p:spPr>
        <p:txBody>
          <a:bodyPr rtlCol="0"/>
          <a:lstStyle/>
          <a:p>
            <a:pPr algn="ctr" rtl="0"/>
            <a:r>
              <a:rPr lang="en-US" dirty="0"/>
              <a:t>Presentación de mockups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344B1B7-B0F5-97EE-7C7F-536AEA577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72" y="1284150"/>
            <a:ext cx="2526427" cy="446941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C9C1608-9E4E-C016-AF68-2655C67B1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896" y="2416827"/>
            <a:ext cx="2624504" cy="202434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023F0E8-D4FE-7550-A421-F06E89596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597" y="784084"/>
            <a:ext cx="2625397" cy="202434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7B14046-1E95-3189-C22A-11D5D8DB2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597" y="3926144"/>
            <a:ext cx="2658735" cy="2013712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A686E91B-1695-6B33-A343-4B4687D331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6870" y="3676554"/>
            <a:ext cx="1894680" cy="3017736"/>
          </a:xfrm>
          <a:prstGeom prst="rect">
            <a:avLst/>
          </a:prstGeom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512D6E3A-2070-0BF0-3732-25C9DD9AEE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6870" y="163710"/>
            <a:ext cx="1894680" cy="3357241"/>
          </a:xfrm>
          <a:prstGeom prst="rect">
            <a:avLst/>
          </a:prstGeom>
        </p:spPr>
      </p:pic>
      <p:cxnSp>
        <p:nvCxnSpPr>
          <p:cNvPr id="5" name="Conector: curvado 4">
            <a:extLst>
              <a:ext uri="{FF2B5EF4-FFF2-40B4-BE49-F238E27FC236}">
                <a16:creationId xmlns:a16="http://schemas.microsoft.com/office/drawing/2014/main" id="{09257022-24A3-65FA-DDB8-B1AC32CA01D4}"/>
              </a:ext>
            </a:extLst>
          </p:cNvPr>
          <p:cNvCxnSpPr>
            <a:endCxn id="12" idx="1"/>
          </p:cNvCxnSpPr>
          <p:nvPr/>
        </p:nvCxnSpPr>
        <p:spPr>
          <a:xfrm rot="16200000" flipH="1">
            <a:off x="1396435" y="1887538"/>
            <a:ext cx="2013155" cy="10697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: curvado 16">
            <a:extLst>
              <a:ext uri="{FF2B5EF4-FFF2-40B4-BE49-F238E27FC236}">
                <a16:creationId xmlns:a16="http://schemas.microsoft.com/office/drawing/2014/main" id="{5400F9FA-8CF6-0137-203D-92BAA85C7676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631440" y="1415843"/>
            <a:ext cx="3193157" cy="38041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: curvado 25">
            <a:extLst>
              <a:ext uri="{FF2B5EF4-FFF2-40B4-BE49-F238E27FC236}">
                <a16:creationId xmlns:a16="http://schemas.microsoft.com/office/drawing/2014/main" id="{0BC5360A-22F0-18AF-A864-BF49051EF18E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3979803" y="1842331"/>
            <a:ext cx="5107067" cy="155471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7B450433-976A-53A9-99AE-BE154C81554D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3979803" y="3397044"/>
            <a:ext cx="5107067" cy="178837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: curvado 30">
            <a:extLst>
              <a:ext uri="{FF2B5EF4-FFF2-40B4-BE49-F238E27FC236}">
                <a16:creationId xmlns:a16="http://schemas.microsoft.com/office/drawing/2014/main" id="{A0B92BDD-75AB-2E19-12D4-8158D633DCD0}"/>
              </a:ext>
            </a:extLst>
          </p:cNvPr>
          <p:cNvCxnSpPr>
            <a:endCxn id="67" idx="1"/>
          </p:cNvCxnSpPr>
          <p:nvPr/>
        </p:nvCxnSpPr>
        <p:spPr>
          <a:xfrm flipV="1">
            <a:off x="6902245" y="1842331"/>
            <a:ext cx="2184625" cy="202779"/>
          </a:xfrm>
          <a:prstGeom prst="curvedConnector3">
            <a:avLst>
              <a:gd name="adj1" fmla="val 2569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ector: curvado 34">
            <a:extLst>
              <a:ext uri="{FF2B5EF4-FFF2-40B4-BE49-F238E27FC236}">
                <a16:creationId xmlns:a16="http://schemas.microsoft.com/office/drawing/2014/main" id="{FFE45971-F17C-DC1F-A471-AC8A17198C98}"/>
              </a:ext>
            </a:extLst>
          </p:cNvPr>
          <p:cNvCxnSpPr>
            <a:endCxn id="47" idx="1"/>
          </p:cNvCxnSpPr>
          <p:nvPr/>
        </p:nvCxnSpPr>
        <p:spPr>
          <a:xfrm>
            <a:off x="8190271" y="5107620"/>
            <a:ext cx="896599" cy="7780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: curvado 41">
            <a:extLst>
              <a:ext uri="{FF2B5EF4-FFF2-40B4-BE49-F238E27FC236}">
                <a16:creationId xmlns:a16="http://schemas.microsoft.com/office/drawing/2014/main" id="{0FCD0CE6-5DDA-3A47-8FCC-6292078AA732}"/>
              </a:ext>
            </a:extLst>
          </p:cNvPr>
          <p:cNvCxnSpPr>
            <a:stCxn id="14" idx="0"/>
            <a:endCxn id="16" idx="0"/>
          </p:cNvCxnSpPr>
          <p:nvPr/>
        </p:nvCxnSpPr>
        <p:spPr>
          <a:xfrm rot="16200000" flipH="1">
            <a:off x="5574600" y="2346780"/>
            <a:ext cx="3142060" cy="16669"/>
          </a:xfrm>
          <a:prstGeom prst="curvedConnector5">
            <a:avLst>
              <a:gd name="adj1" fmla="val -7275"/>
              <a:gd name="adj2" fmla="val 9246499"/>
              <a:gd name="adj3" fmla="val 822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: curvado 43">
            <a:extLst>
              <a:ext uri="{FF2B5EF4-FFF2-40B4-BE49-F238E27FC236}">
                <a16:creationId xmlns:a16="http://schemas.microsoft.com/office/drawing/2014/main" id="{E98830E7-903F-080D-86CD-2BDAC0D6E692}"/>
              </a:ext>
            </a:extLst>
          </p:cNvPr>
          <p:cNvCxnSpPr>
            <a:endCxn id="14" idx="2"/>
          </p:cNvCxnSpPr>
          <p:nvPr/>
        </p:nvCxnSpPr>
        <p:spPr>
          <a:xfrm rot="16200000" flipV="1">
            <a:off x="6687056" y="3258670"/>
            <a:ext cx="1117715" cy="21723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: curvado 45">
            <a:extLst>
              <a:ext uri="{FF2B5EF4-FFF2-40B4-BE49-F238E27FC236}">
                <a16:creationId xmlns:a16="http://schemas.microsoft.com/office/drawing/2014/main" id="{4DACEDAF-C425-E7FD-8F77-C25FC6D71E58}"/>
              </a:ext>
            </a:extLst>
          </p:cNvPr>
          <p:cNvCxnSpPr>
            <a:endCxn id="10" idx="0"/>
          </p:cNvCxnSpPr>
          <p:nvPr/>
        </p:nvCxnSpPr>
        <p:spPr>
          <a:xfrm rot="10800000" flipV="1">
            <a:off x="1412486" y="344128"/>
            <a:ext cx="9196520" cy="9400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: curvado 48">
            <a:extLst>
              <a:ext uri="{FF2B5EF4-FFF2-40B4-BE49-F238E27FC236}">
                <a16:creationId xmlns:a16="http://schemas.microsoft.com/office/drawing/2014/main" id="{AE4EA7A3-02B7-2A3A-1532-2E3C55E46E28}"/>
              </a:ext>
            </a:extLst>
          </p:cNvPr>
          <p:cNvCxnSpPr>
            <a:cxnSpLocks/>
            <a:endCxn id="10" idx="2"/>
          </p:cNvCxnSpPr>
          <p:nvPr/>
        </p:nvCxnSpPr>
        <p:spPr>
          <a:xfrm rot="10800000" flipV="1">
            <a:off x="1412486" y="3831774"/>
            <a:ext cx="9265346" cy="1921785"/>
          </a:xfrm>
          <a:prstGeom prst="curvedConnector4">
            <a:avLst>
              <a:gd name="adj1" fmla="val -11680"/>
              <a:gd name="adj2" fmla="val 11189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ector: curvado 53">
            <a:extLst>
              <a:ext uri="{FF2B5EF4-FFF2-40B4-BE49-F238E27FC236}">
                <a16:creationId xmlns:a16="http://schemas.microsoft.com/office/drawing/2014/main" id="{1E703FA4-3D77-FA62-842C-61B7D5BA4714}"/>
              </a:ext>
            </a:extLst>
          </p:cNvPr>
          <p:cNvCxnSpPr>
            <a:endCxn id="12" idx="0"/>
          </p:cNvCxnSpPr>
          <p:nvPr/>
        </p:nvCxnSpPr>
        <p:spPr>
          <a:xfrm rot="10800000" flipV="1">
            <a:off x="4250148" y="2182761"/>
            <a:ext cx="2283188" cy="23406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ector: curvado 55">
            <a:extLst>
              <a:ext uri="{FF2B5EF4-FFF2-40B4-BE49-F238E27FC236}">
                <a16:creationId xmlns:a16="http://schemas.microsoft.com/office/drawing/2014/main" id="{3FF92FF8-1A5E-2B47-FB86-01BC1AE9A2D1}"/>
              </a:ext>
            </a:extLst>
          </p:cNvPr>
          <p:cNvCxnSpPr>
            <a:endCxn id="12" idx="2"/>
          </p:cNvCxnSpPr>
          <p:nvPr/>
        </p:nvCxnSpPr>
        <p:spPr>
          <a:xfrm rot="10800000">
            <a:off x="4250149" y="4441172"/>
            <a:ext cx="3645155" cy="83862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ector: curvado 57">
            <a:extLst>
              <a:ext uri="{FF2B5EF4-FFF2-40B4-BE49-F238E27FC236}">
                <a16:creationId xmlns:a16="http://schemas.microsoft.com/office/drawing/2014/main" id="{242D90E4-57C1-C7C2-B732-C674D7B69176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753347" y="1796257"/>
            <a:ext cx="2071250" cy="19327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180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EF1DC-5E79-7F4E-DE1D-EA98C5E9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759C7AA-9B3A-635E-3C5B-6CACA32E4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526" y="226300"/>
            <a:ext cx="10479024" cy="557784"/>
          </a:xfrm>
        </p:spPr>
        <p:txBody>
          <a:bodyPr rtlCol="0"/>
          <a:lstStyle/>
          <a:p>
            <a:pPr algn="ctr" rtl="0"/>
            <a:r>
              <a:rPr lang="en-US" dirty="0"/>
              <a:t>Presentación de mockups</a:t>
            </a:r>
            <a:br>
              <a:rPr lang="en-US" dirty="0"/>
            </a:br>
            <a:endParaRPr lang="en-US"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3CA4317E-592B-A931-EC07-0B3F6C918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22" y="1306200"/>
            <a:ext cx="3101694" cy="4940198"/>
          </a:xfrm>
          <a:prstGeom prst="rect">
            <a:avLst/>
          </a:prstGeom>
        </p:spPr>
      </p:pic>
      <p:pic>
        <p:nvPicPr>
          <p:cNvPr id="69" name="Imagen 68">
            <a:extLst>
              <a:ext uri="{FF2B5EF4-FFF2-40B4-BE49-F238E27FC236}">
                <a16:creationId xmlns:a16="http://schemas.microsoft.com/office/drawing/2014/main" id="{4FDE5AE3-95FC-9BFA-E4B7-7067C810B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826" y="784084"/>
            <a:ext cx="2521995" cy="582545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188ED58-44C0-DCF3-A887-A5E9B51DD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26" y="2124757"/>
            <a:ext cx="4151213" cy="3144107"/>
          </a:xfrm>
          <a:prstGeom prst="rect">
            <a:avLst/>
          </a:prstGeom>
        </p:spPr>
      </p:pic>
      <p:cxnSp>
        <p:nvCxnSpPr>
          <p:cNvPr id="7" name="Conector: curvado 6">
            <a:extLst>
              <a:ext uri="{FF2B5EF4-FFF2-40B4-BE49-F238E27FC236}">
                <a16:creationId xmlns:a16="http://schemas.microsoft.com/office/drawing/2014/main" id="{98E88E6A-31C7-725D-E418-72B052765AC1}"/>
              </a:ext>
            </a:extLst>
          </p:cNvPr>
          <p:cNvCxnSpPr>
            <a:endCxn id="47" idx="1"/>
          </p:cNvCxnSpPr>
          <p:nvPr/>
        </p:nvCxnSpPr>
        <p:spPr>
          <a:xfrm flipV="1">
            <a:off x="4267200" y="3776299"/>
            <a:ext cx="1018022" cy="20576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: curvado 10">
            <a:extLst>
              <a:ext uri="{FF2B5EF4-FFF2-40B4-BE49-F238E27FC236}">
                <a16:creationId xmlns:a16="http://schemas.microsoft.com/office/drawing/2014/main" id="{498E21E6-92A4-3F6F-9583-F14641985FE7}"/>
              </a:ext>
            </a:extLst>
          </p:cNvPr>
          <p:cNvCxnSpPr>
            <a:endCxn id="69" idx="1"/>
          </p:cNvCxnSpPr>
          <p:nvPr/>
        </p:nvCxnSpPr>
        <p:spPr>
          <a:xfrm rot="16200000" flipH="1">
            <a:off x="7414907" y="2033892"/>
            <a:ext cx="2143314" cy="118252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: curvado 14">
            <a:extLst>
              <a:ext uri="{FF2B5EF4-FFF2-40B4-BE49-F238E27FC236}">
                <a16:creationId xmlns:a16="http://schemas.microsoft.com/office/drawing/2014/main" id="{3DAABA84-811B-4C9C-312C-4E9104E3E657}"/>
              </a:ext>
            </a:extLst>
          </p:cNvPr>
          <p:cNvCxnSpPr>
            <a:endCxn id="47" idx="3"/>
          </p:cNvCxnSpPr>
          <p:nvPr/>
        </p:nvCxnSpPr>
        <p:spPr>
          <a:xfrm rot="10800000">
            <a:off x="8386917" y="3776300"/>
            <a:ext cx="3008671" cy="210339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392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B383F-A2B8-F218-5340-F057B6CB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D368DE0-BEC2-EB33-0A20-B6607212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180001"/>
            <a:ext cx="10479024" cy="557784"/>
          </a:xfrm>
        </p:spPr>
        <p:txBody>
          <a:bodyPr rtlCol="0"/>
          <a:lstStyle/>
          <a:p>
            <a:pPr algn="ctr" rtl="0"/>
            <a:r>
              <a:rPr lang="en-US" dirty="0"/>
              <a:t>Presentación de mockups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0AE6C1-087D-207E-230D-B01BC8B62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028" y="1020620"/>
            <a:ext cx="2248241" cy="395670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1857741-371C-1265-3EE1-4B190967C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269" y="1020620"/>
            <a:ext cx="2248242" cy="399358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D0206F6-FC22-B7B6-12A3-42F12F321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10" y="980288"/>
            <a:ext cx="2248243" cy="398373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1935C4D-8097-C46E-8DDC-438624048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040" y="1020620"/>
            <a:ext cx="3123035" cy="3943398"/>
          </a:xfrm>
          <a:prstGeom prst="rect">
            <a:avLst/>
          </a:prstGeom>
        </p:spPr>
      </p:pic>
      <p:cxnSp>
        <p:nvCxnSpPr>
          <p:cNvPr id="22" name="Conector: curvado 21">
            <a:extLst>
              <a:ext uri="{FF2B5EF4-FFF2-40B4-BE49-F238E27FC236}">
                <a16:creationId xmlns:a16="http://schemas.microsoft.com/office/drawing/2014/main" id="{2C396DAD-E5B2-1699-78BB-8BCD093ECA16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7334865" y="3017413"/>
            <a:ext cx="2189404" cy="26656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: curvado 27">
            <a:extLst>
              <a:ext uri="{FF2B5EF4-FFF2-40B4-BE49-F238E27FC236}">
                <a16:creationId xmlns:a16="http://schemas.microsoft.com/office/drawing/2014/main" id="{E2873465-2659-53F8-9932-94FDD7908247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 flipV="1">
            <a:off x="1795532" y="4300220"/>
            <a:ext cx="9725058" cy="663798"/>
          </a:xfrm>
          <a:prstGeom prst="curvedConnector4">
            <a:avLst>
              <a:gd name="adj1" fmla="val 1595"/>
              <a:gd name="adj2" fmla="val 13443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ector: curvado 4">
            <a:extLst>
              <a:ext uri="{FF2B5EF4-FFF2-40B4-BE49-F238E27FC236}">
                <a16:creationId xmlns:a16="http://schemas.microsoft.com/office/drawing/2014/main" id="{CD5DB328-F6A3-0B73-69F8-C7DF9EA55BE1}"/>
              </a:ext>
            </a:extLst>
          </p:cNvPr>
          <p:cNvCxnSpPr>
            <a:endCxn id="4" idx="1"/>
          </p:cNvCxnSpPr>
          <p:nvPr/>
        </p:nvCxnSpPr>
        <p:spPr>
          <a:xfrm rot="16200000" flipH="1">
            <a:off x="2009428" y="1724372"/>
            <a:ext cx="1810253" cy="7389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: curvado 7">
            <a:extLst>
              <a:ext uri="{FF2B5EF4-FFF2-40B4-BE49-F238E27FC236}">
                <a16:creationId xmlns:a16="http://schemas.microsoft.com/office/drawing/2014/main" id="{C05E01E5-3E53-81C0-51D9-1EDC8DE9B6EB}"/>
              </a:ext>
            </a:extLst>
          </p:cNvPr>
          <p:cNvCxnSpPr>
            <a:endCxn id="19" idx="1"/>
          </p:cNvCxnSpPr>
          <p:nvPr/>
        </p:nvCxnSpPr>
        <p:spPr>
          <a:xfrm rot="5400000" flipH="1" flipV="1">
            <a:off x="5036300" y="3008080"/>
            <a:ext cx="901501" cy="8699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: curvado 10">
            <a:extLst>
              <a:ext uri="{FF2B5EF4-FFF2-40B4-BE49-F238E27FC236}">
                <a16:creationId xmlns:a16="http://schemas.microsoft.com/office/drawing/2014/main" id="{991AE324-FCE7-0308-D403-6EE5F8F2251F}"/>
              </a:ext>
            </a:extLst>
          </p:cNvPr>
          <p:cNvCxnSpPr/>
          <p:nvPr/>
        </p:nvCxnSpPr>
        <p:spPr>
          <a:xfrm flipV="1">
            <a:off x="4998720" y="1424940"/>
            <a:ext cx="4525549" cy="1661160"/>
          </a:xfrm>
          <a:prstGeom prst="curvedConnector3">
            <a:avLst>
              <a:gd name="adj1" fmla="val 1565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066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4D1FD-9CC8-4CB0-8247-CFAB9069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502582"/>
            <a:ext cx="10479024" cy="557784"/>
          </a:xfrm>
        </p:spPr>
        <p:txBody>
          <a:bodyPr rtlCol="0"/>
          <a:lstStyle/>
          <a:p>
            <a:pPr algn="ctr" rtl="0"/>
            <a:r>
              <a:rPr lang="es" dirty="0"/>
              <a:t>Presentación de templates</a:t>
            </a:r>
            <a:br>
              <a:rPr lang="en-US" dirty="0"/>
            </a:br>
            <a:endParaRPr lang="en-US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8</a:t>
            </a:fld>
            <a:endParaRPr lang="en-US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6B4B7E7-5962-BF99-59F9-E8ABE08D2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01" y="5252657"/>
            <a:ext cx="11209867" cy="93375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FA5F51D-C5B1-4ACE-623A-9A324C322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89" y="979754"/>
            <a:ext cx="3008176" cy="368200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F48CD31-87AD-9A45-B53D-2BDEDA2F7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516" y="884752"/>
            <a:ext cx="2780808" cy="387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F0C84BB-B018-F89F-D3B0-4D3570566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299" y="1188338"/>
            <a:ext cx="2380856" cy="254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n 2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F31B007-CB2B-88DF-B1DA-F11F2D49D7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0131" y="1651260"/>
            <a:ext cx="3530725" cy="187425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C9C0CBB7-4E33-6912-D60C-BA08FD5804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275" y="4056287"/>
            <a:ext cx="5638800" cy="63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3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7376-80A6-3852-B918-DF9878C6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2F49B-63B0-EDC3-4C84-D3ACE015E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502582"/>
            <a:ext cx="10479024" cy="557784"/>
          </a:xfrm>
        </p:spPr>
        <p:txBody>
          <a:bodyPr rtlCol="0"/>
          <a:lstStyle/>
          <a:p>
            <a:pPr algn="ctr" rtl="0"/>
            <a:r>
              <a:rPr lang="es" dirty="0"/>
              <a:t>Presentación de Las vistas</a:t>
            </a:r>
            <a:br>
              <a:rPr lang="en-US" dirty="0"/>
            </a:br>
            <a:endParaRPr lang="en-US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E5B786E-CE36-47A7-4DF2-F47533D0FE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9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69A509-0104-3249-B370-B4126BFC8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98" y="905102"/>
            <a:ext cx="5390042" cy="2711419"/>
          </a:xfrm>
          <a:prstGeom prst="rect">
            <a:avLst/>
          </a:prstGeom>
        </p:spPr>
      </p:pic>
      <p:pic>
        <p:nvPicPr>
          <p:cNvPr id="7" name="Imagen 6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022F87FA-6044-CAA7-39CE-9062450F5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327" y="3779007"/>
            <a:ext cx="5085425" cy="282558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04BA493-67F2-582D-2382-5086D2F19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05102"/>
            <a:ext cx="5625592" cy="2796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16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Marcador de posición de texto 45">
            <a:extLst>
              <a:ext uri="{FF2B5EF4-FFF2-40B4-BE49-F238E27FC236}">
                <a16:creationId xmlns:a16="http://schemas.microsoft.com/office/drawing/2014/main" id="{B7BFD7D2-6C97-1E33-B2CC-6AE1EB9EF8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3" name="Marcador de posición de texto 42">
            <a:extLst>
              <a:ext uri="{FF2B5EF4-FFF2-40B4-BE49-F238E27FC236}">
                <a16:creationId xmlns:a16="http://schemas.microsoft.com/office/drawing/2014/main" id="{D45A4C16-121E-2E37-49E9-4A4ACF2C51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4" name="Marcador de texto 43">
            <a:extLst>
              <a:ext uri="{FF2B5EF4-FFF2-40B4-BE49-F238E27FC236}">
                <a16:creationId xmlns:a16="http://schemas.microsoft.com/office/drawing/2014/main" id="{D585FA3F-E61C-D66E-07B0-F757A8CA60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5" name="Marcador de posición de texto 44">
            <a:extLst>
              <a:ext uri="{FF2B5EF4-FFF2-40B4-BE49-F238E27FC236}">
                <a16:creationId xmlns:a16="http://schemas.microsoft.com/office/drawing/2014/main" id="{37E333FD-F3EA-ED3D-DAD7-C1B2247BA3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3D0D256-5DA0-E45F-C9DF-CAF0C46AC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502582"/>
            <a:ext cx="10479024" cy="557784"/>
          </a:xfrm>
        </p:spPr>
        <p:txBody>
          <a:bodyPr rtlCol="0"/>
          <a:lstStyle/>
          <a:p>
            <a:pPr algn="ctr" rtl="0"/>
            <a:r>
              <a:rPr lang="es" sz="2000" b="1" dirty="0">
                <a:latin typeface="+mj-lt"/>
              </a:rPr>
              <a:t>EVOLUCIÓN DEL PROYECTO</a:t>
            </a:r>
            <a:br>
              <a:rPr lang="en-US" dirty="0"/>
            </a:br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3A5C71-E679-54E0-9CC6-BA06E7162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8" y="1530451"/>
            <a:ext cx="1831721" cy="305286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560D596-79F7-CB0F-A45C-B25432B6C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7250" y="1017307"/>
            <a:ext cx="2417062" cy="273552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054AF77-6DFC-F2B3-1A1C-35DA1EE03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8807" y="1106195"/>
            <a:ext cx="2419688" cy="520137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59E1A99-1A60-A9A8-D2C1-09FC82D93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7123" y="931276"/>
            <a:ext cx="1412884" cy="555121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FB0F896-73D9-18B0-F1B0-BDB60D6CDF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8539" y="571501"/>
            <a:ext cx="1590897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34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8B20A-89F5-0E83-2FBB-597A9E58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544" y="548372"/>
            <a:ext cx="10479024" cy="557784"/>
          </a:xfrm>
        </p:spPr>
        <p:txBody>
          <a:bodyPr rtlCol="0"/>
          <a:lstStyle/>
          <a:p>
            <a:pPr algn="ctr" rtl="0"/>
            <a:r>
              <a:rPr lang="es" dirty="0"/>
              <a:t>enlaces</a:t>
            </a:r>
            <a:br>
              <a:rPr lang="en-US" dirty="0"/>
            </a:br>
            <a:endParaRPr lang="en-US" dirty="0"/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A26A441D-413E-D018-529D-98666ABE6AA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8912" y="1454191"/>
            <a:ext cx="10479024" cy="4480560"/>
          </a:xfrm>
        </p:spPr>
        <p:txBody>
          <a:bodyPr rtlCol="0"/>
          <a:lstStyle/>
          <a:p>
            <a:pPr>
              <a:buFont typeface="Arial" panose="020B0604020202020204" pitchFamily="34" charset="0"/>
              <a:buChar char="•"/>
            </a:pPr>
            <a:r>
              <a:rPr lang="es" dirty="0"/>
              <a:t>Enlace a Figma (Mockups):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b="0" i="0" u="sng" dirty="0">
                <a:effectLst/>
                <a:latin typeface="-apple-system"/>
                <a:hlinkClick r:id="rId2"/>
              </a:rPr>
              <a:t>https://www.figma.com/design/M87p0PfJuhE1bq51WpVQs4/Reserly?node-id=0-1&amp;t=6vBebie4Pjv9fZOe-1</a:t>
            </a:r>
            <a:endParaRPr lang="es-ES" b="0" i="0" u="sng" dirty="0"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es" dirty="0"/>
              <a:t>Enlace  a GitHub: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>
                <a:hlinkClick r:id="rId3"/>
              </a:rPr>
              <a:t>https://github.com/AythamiPV/Reserly</a:t>
            </a:r>
            <a:endParaRPr lang="es-ES" dirty="0"/>
          </a:p>
          <a:p>
            <a:pPr marL="457200" lvl="1" indent="0">
              <a:buNone/>
            </a:pPr>
            <a:r>
              <a:rPr lang="es" dirty="0"/>
              <a:t>Enlace al vídeo: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43.8_sprint1_video_Francisco_Aythami_Nicolás.mp4</a:t>
            </a:r>
            <a:r>
              <a:rPr lang="e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" dirty="0"/>
              <a:t>Enlace al trello: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b="0" i="0" u="sng" dirty="0">
                <a:effectLst/>
                <a:latin typeface="-apple-system"/>
                <a:hlinkClick r:id="rId5"/>
              </a:rPr>
              <a:t>https://trello.com/invite/b/67a62f6bffa16fc46760a77b/ATTI9789d2d7db6ffa16c1a8e1291604a1999397688E/reserly</a:t>
            </a:r>
            <a:endParaRPr lang="es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527AE480-D58D-8A4F-D9AD-3E0956702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294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" dirty="0"/>
              <a:t>Muchas</a:t>
            </a:r>
            <a:br>
              <a:rPr lang="en-US" dirty="0"/>
            </a:br>
            <a:r>
              <a:rPr lang="es" dirty="0"/>
              <a:t>gracias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64EF33A-985F-1552-741F-EC25D85BB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656" y="1341676"/>
            <a:ext cx="7685524" cy="497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247F30-5811-40C0-99EC-CF53200590BE}">
  <ds:schemaRefs>
    <ds:schemaRef ds:uri="http://schemas.microsoft.com/office/2006/documentManagement/types"/>
    <ds:schemaRef ds:uri="http://purl.org/dc/elements/1.1/"/>
    <ds:schemaRef ds:uri="http://schemas.microsoft.com/sharepoint/v3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metadata/properties"/>
    <ds:schemaRef ds:uri="71af3243-3dd4-4a8d-8c0d-dd76da1f02a5"/>
    <ds:schemaRef ds:uri="http://schemas.openxmlformats.org/package/2006/metadata/core-properties"/>
    <ds:schemaRef ds:uri="230e9df3-be65-4c73-a93b-d1236ebd677e"/>
    <ds:schemaRef ds:uri="16c05727-aa75-4e4a-9b5f-8a80a116589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colores corporativos</Template>
  <TotalTime>270</TotalTime>
  <Words>312</Words>
  <Application>Microsoft Office PowerPoint</Application>
  <PresentationFormat>Panorámica</PresentationFormat>
  <Paragraphs>45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-apple-system</vt:lpstr>
      <vt:lpstr>Aptos</vt:lpstr>
      <vt:lpstr>Aptos Light</vt:lpstr>
      <vt:lpstr>Arial</vt:lpstr>
      <vt:lpstr>Calibri</vt:lpstr>
      <vt:lpstr>Personalizar</vt:lpstr>
      <vt:lpstr>Francisco Malillos castellano,aythami pérez vega y nicolás ruiz barreto  </vt:lpstr>
      <vt:lpstr>INDICE</vt:lpstr>
      <vt:lpstr>Descripción del proyecto </vt:lpstr>
      <vt:lpstr>Requisitos FUNCIONALES </vt:lpstr>
      <vt:lpstr>Presentación de mockups </vt:lpstr>
      <vt:lpstr>Presentación de mockups </vt:lpstr>
      <vt:lpstr>Presentación de mockups </vt:lpstr>
      <vt:lpstr>Presentación de templates </vt:lpstr>
      <vt:lpstr>Presentación de Las vistas </vt:lpstr>
      <vt:lpstr>EVOLUCIÓN DEL PROYECTO </vt:lpstr>
      <vt:lpstr>enlaces 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pancho malillos</dc:creator>
  <cp:lastModifiedBy>pancho malillos</cp:lastModifiedBy>
  <cp:revision>6</cp:revision>
  <dcterms:created xsi:type="dcterms:W3CDTF">2025-03-01T19:40:21Z</dcterms:created>
  <dcterms:modified xsi:type="dcterms:W3CDTF">2025-03-02T19:26:49Z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