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5" r:id="rId5"/>
    <p:sldId id="306" r:id="rId6"/>
    <p:sldId id="307" r:id="rId7"/>
    <p:sldId id="322" r:id="rId8"/>
    <p:sldId id="323" r:id="rId9"/>
    <p:sldId id="308" r:id="rId10"/>
    <p:sldId id="309" r:id="rId11"/>
    <p:sldId id="324" r:id="rId12"/>
    <p:sldId id="310" r:id="rId13"/>
    <p:sldId id="325" r:id="rId14"/>
    <p:sldId id="316" r:id="rId15"/>
    <p:sldId id="318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82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1077DB-935E-4A0A-947A-D283B9F9F452}" type="datetimeFigureOut">
              <a:rPr lang="en-US" smtClean="0"/>
              <a:t>3/30/2025</a:t>
            </a:fld>
            <a:endParaRPr lang="en-US" dirty="0"/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EDBDA2-4480-4D82-8886-1B64A7ECBBAC}" type="datetimeFigureOut">
              <a:rPr lang="en-US" noProof="0" smtClean="0"/>
              <a:t>3/30/2025</a:t>
            </a:fld>
            <a:endParaRPr lang="en-U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 noProof="0"/>
              <a:t>Editar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en-US" noProof="0" smtClean="0"/>
              <a:t>‹Nº›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4" name="Marcador de contenido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 rtlCol="0"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 rtlCol="0"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4" name="Marcador de posición de imagen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con imagen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24" name="Título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23" name="Marcador de posición de texto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8" name="Marcador de posición de texto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Marcador de posición de texto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93" name="Marcador de posición de texto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 rtlCol="0">
            <a:noAutofit/>
          </a:bodyPr>
          <a:lstStyle>
            <a:lvl1pPr>
              <a:defRPr>
                <a:noFill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pic>
        <p:nvPicPr>
          <p:cNvPr id="120" name="Gráfico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 anchor="t"/>
          <a:lstStyle>
            <a:lvl1pPr>
              <a:defRPr sz="2000" cap="all" spc="3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6" name="Marcador de contenido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9" name="Marcador de contenido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 rtlCol="0"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ítulo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rtlCol="0"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 rtlCol="0"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rtl="0"/>
            <a:r>
              <a:rPr lang="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" noProof="0"/>
              <a:t>Haga clic para modificar los estilos de texto del patrón</a:t>
            </a:r>
          </a:p>
          <a:p>
            <a:pPr lvl="1" rtl="0"/>
            <a:r>
              <a:rPr lang="es" noProof="0"/>
              <a:t>Segundo nivel</a:t>
            </a:r>
          </a:p>
          <a:p>
            <a:pPr lvl="2" rtl="0"/>
            <a:r>
              <a:rPr lang="es" noProof="0"/>
              <a:t>Tercer nivel</a:t>
            </a:r>
          </a:p>
          <a:p>
            <a:pPr lvl="3" rtl="0"/>
            <a:r>
              <a:rPr lang="es" noProof="0"/>
              <a:t>Cuarto nivel</a:t>
            </a:r>
          </a:p>
          <a:p>
            <a:pPr lvl="4" rtl="0"/>
            <a:r>
              <a:rPr lang="es" noProof="0"/>
              <a:t>Quinto nivel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" noProof="0"/>
              <a:t>TÍTULO DEL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rtlCol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pPr rtl="0"/>
            <a:fld id="{B67B645E-C5E5-4727-B977-D372A0AA71D9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mailto:empresa@gmail.com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cliente@gmail.com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thamiPV/Reserly/tree/sprint2" TargetMode="External"/><Relationship Id="rId2" Type="http://schemas.openxmlformats.org/officeDocument/2006/relationships/hyperlink" Target="https://www.figma.com/design/M87p0PfJuhE1bq51WpVQs4/Reserly?node-id=0-1&amp;t=6vBebie4Pjv9fZOe-1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lumnosulpgc-my.sharepoint.com/:v:/g/personal/francisco_malillos101_alu_ulpgc_es/EdmCPhXuxuNErf6SJ--fVMUBEpEDh9-E1Pb0RVa2KLQH-A?e=HBvTm8&amp;nav=eyJyZWZlcnJhbEluZm8iOnsicmVmZXJyYWxBcHAiOiJTdHJlYW1XZWJBcHAiLCJyZWZlcnJhbFZpZXciOiJTaGFyZURpYWxvZy1MaW5rIiwicmVmZXJyYWxBcHBQbGF0Zm9ybSI6IldlYiIsInJlZmVycmFsTW9kZSI6InZpZXcifX0%3D" TargetMode="External"/><Relationship Id="rId4" Type="http://schemas.openxmlformats.org/officeDocument/2006/relationships/hyperlink" Target="https://trello.com/invite/b/67a62f6bffa16fc46760a77b/ATTI9789d2d7db6ffa16c1a8e1291604a1999397688E/reserly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6135286"/>
            <a:ext cx="12192000" cy="557784"/>
          </a:xfrm>
        </p:spPr>
        <p:txBody>
          <a:bodyPr rtlCol="0"/>
          <a:lstStyle/>
          <a:p>
            <a:pPr rtl="0"/>
            <a:r>
              <a:rPr lang="es" sz="1800" dirty="0"/>
              <a:t>Francisco Malillos castellano,aythami pérez vega y nicolás ruiz barreto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224ECE-AFA5-6302-E24D-CC9CB928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59" y="535431"/>
            <a:ext cx="7685524" cy="49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rtlCol="0"/>
          <a:lstStyle/>
          <a:p>
            <a:pPr rtl="0"/>
            <a:r>
              <a:rPr lang="es" dirty="0"/>
              <a:t>INDICE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919952" cy="4479925"/>
          </a:xfrm>
        </p:spPr>
        <p:txBody>
          <a:bodyPr rtlCol="0"/>
          <a:lstStyle/>
          <a:p>
            <a:pPr rtl="0"/>
            <a:r>
              <a:rPr lang="es" dirty="0"/>
              <a:t>Evolución del diseño de las interfaces</a:t>
            </a:r>
          </a:p>
          <a:p>
            <a:pPr rtl="0"/>
            <a:r>
              <a:rPr lang="es" dirty="0"/>
              <a:t>Explicación de los cambios realizados a nivel de código</a:t>
            </a:r>
          </a:p>
          <a:p>
            <a:pPr rtl="0"/>
            <a:r>
              <a:rPr lang="es" dirty="0"/>
              <a:t>Formularios</a:t>
            </a:r>
          </a:p>
          <a:p>
            <a:pPr rtl="0"/>
            <a:r>
              <a:rPr lang="es" dirty="0"/>
              <a:t>JSON y carga de datos</a:t>
            </a:r>
          </a:p>
          <a:p>
            <a:pPr rtl="0"/>
            <a:r>
              <a:rPr lang="es" dirty="0"/>
              <a:t>Trello</a:t>
            </a:r>
          </a:p>
          <a:p>
            <a:pPr rtl="0"/>
            <a:r>
              <a:rPr lang="es" dirty="0"/>
              <a:t>Enlaces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45961E4D-DF15-4A07-6CD2-EBA4624C94BF}"/>
              </a:ext>
            </a:extLst>
          </p:cNvPr>
          <p:cNvSpPr txBox="1">
            <a:spLocks/>
          </p:cNvSpPr>
          <p:nvPr/>
        </p:nvSpPr>
        <p:spPr>
          <a:xfrm>
            <a:off x="556090" y="1070653"/>
            <a:ext cx="10351685" cy="4479925"/>
          </a:xfrm>
          <a:prstGeom prst="rect">
            <a:avLst/>
          </a:prstGeom>
        </p:spPr>
        <p:txBody>
          <a:bodyPr rtlCol="0"/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" dirty="0">
                <a:solidFill>
                  <a:schemeClr val="bg1"/>
                </a:solidFill>
              </a:rPr>
              <a:t>INDEX:</a:t>
            </a: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548D133-7B32-2B41-8E32-F1E317AE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91761"/>
            <a:ext cx="10479024" cy="557784"/>
          </a:xfrm>
        </p:spPr>
        <p:txBody>
          <a:bodyPr rtlCol="0"/>
          <a:lstStyle/>
          <a:p>
            <a:pPr algn="ctr" rtl="0"/>
            <a:r>
              <a:rPr lang="es-ES" dirty="0"/>
              <a:t>EVOLUCIÓN DE LAS INTERFACES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162893-45D1-75DC-14CE-F14A9E4F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59" y="1628437"/>
            <a:ext cx="2770987" cy="49063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FFED96-3C2C-972E-60A1-64C1D0D9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273" y="1468753"/>
            <a:ext cx="2019454" cy="50660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104B1C-F12B-C40F-1F74-1994A437C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582" y="1778683"/>
            <a:ext cx="3524328" cy="460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B8E92-F2D8-3CC4-CF20-91700435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85C3C184-54E6-B930-CFC1-BC7BFE3646DD}"/>
              </a:ext>
            </a:extLst>
          </p:cNvPr>
          <p:cNvSpPr txBox="1">
            <a:spLocks/>
          </p:cNvSpPr>
          <p:nvPr/>
        </p:nvSpPr>
        <p:spPr>
          <a:xfrm>
            <a:off x="589957" y="945579"/>
            <a:ext cx="10351685" cy="4479925"/>
          </a:xfrm>
          <a:prstGeom prst="rect">
            <a:avLst/>
          </a:prstGeom>
        </p:spPr>
        <p:txBody>
          <a:bodyPr rtlCol="0"/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" dirty="0">
                <a:solidFill>
                  <a:schemeClr val="bg1"/>
                </a:solidFill>
              </a:rPr>
              <a:t>COMPANY MAIN:</a:t>
            </a: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E5514BF-9D41-10AE-B573-FBF59066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91761"/>
            <a:ext cx="10479024" cy="557784"/>
          </a:xfrm>
        </p:spPr>
        <p:txBody>
          <a:bodyPr rtlCol="0"/>
          <a:lstStyle/>
          <a:p>
            <a:pPr algn="ctr" rtl="0"/>
            <a:r>
              <a:rPr lang="es-ES" dirty="0"/>
              <a:t>EVOLUCIÓN DE LAS INTERFACES</a:t>
            </a:r>
            <a:br>
              <a:rPr lang="en-US" dirty="0"/>
            </a:br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CBEFAC-4D81-32A9-8443-F65E6BCA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780" y="1349545"/>
            <a:ext cx="1762439" cy="49512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0565B5-43BF-6B29-2688-AB7D7E17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847" y="2298498"/>
            <a:ext cx="4184263" cy="30533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96EE42-59CA-02B2-20CA-E5A19CB02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537" y="1746821"/>
            <a:ext cx="2652952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1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8E6C7-DE71-C72B-DCE7-D5D0F306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D7494586-FED8-FA27-243B-2242258BEA15}"/>
              </a:ext>
            </a:extLst>
          </p:cNvPr>
          <p:cNvSpPr txBox="1">
            <a:spLocks/>
          </p:cNvSpPr>
          <p:nvPr/>
        </p:nvSpPr>
        <p:spPr>
          <a:xfrm>
            <a:off x="589957" y="911713"/>
            <a:ext cx="10351685" cy="4479925"/>
          </a:xfrm>
          <a:prstGeom prst="rect">
            <a:avLst/>
          </a:prstGeom>
        </p:spPr>
        <p:txBody>
          <a:bodyPr rtlCol="0"/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" dirty="0">
                <a:solidFill>
                  <a:schemeClr val="bg1"/>
                </a:solidFill>
              </a:rPr>
              <a:t>CLIENT MAIN:</a:t>
            </a: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7E2197E-023C-07C5-6C81-F0ABCFBA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791761"/>
            <a:ext cx="10479024" cy="557784"/>
          </a:xfrm>
        </p:spPr>
        <p:txBody>
          <a:bodyPr rtlCol="0"/>
          <a:lstStyle/>
          <a:p>
            <a:pPr algn="ctr" rtl="0"/>
            <a:r>
              <a:rPr lang="es-ES" dirty="0"/>
              <a:t>EVOLUCIÓN DE LAS INTERFACES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1548B1-B72A-BBF2-9D55-80A34AE8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133" y="2555220"/>
            <a:ext cx="4419600" cy="32241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699AE8-0496-0CE8-5172-F50EEE2C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112" y="1211946"/>
            <a:ext cx="3029373" cy="53823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019D1B0-E3DB-E4D1-A4A2-0A6D3598C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88" y="1741906"/>
            <a:ext cx="2521365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9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8" y="562356"/>
            <a:ext cx="10479024" cy="557784"/>
          </a:xfrm>
        </p:spPr>
        <p:txBody>
          <a:bodyPr rtlCol="0"/>
          <a:lstStyle/>
          <a:p>
            <a:r>
              <a:rPr lang="es" dirty="0"/>
              <a:t>Explicación de los cambios realizados a nivel de código</a:t>
            </a:r>
            <a:br>
              <a:rPr lang="e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6</a:t>
            </a:fld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71EF4D5-4DE0-DF13-4E88-D5C55E4D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8" y="1390580"/>
            <a:ext cx="2199664" cy="4724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B8B48C5-F150-BDAC-9685-55213B5E3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222" y="1689631"/>
            <a:ext cx="3019846" cy="421063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B902271-E774-6B42-DC28-E3FEBBB65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49" y="1647460"/>
            <a:ext cx="2032000" cy="4210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18918B-EE3F-21EC-EFBA-114FBE948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030" y="1835937"/>
            <a:ext cx="2526169" cy="383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26" y="429500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 err="1"/>
              <a:t>Formularios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457B0B-AC25-4C98-7C8A-B5A35E6B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82" y="1357367"/>
            <a:ext cx="4563614" cy="36552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6999E7-62C7-A95C-C6A4-DDAD7A7B1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320" y="1357367"/>
            <a:ext cx="3055223" cy="20716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93DF30-C38D-4B4C-F020-DFC99515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321" y="3429000"/>
            <a:ext cx="3081221" cy="233565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E7066BF-D3CB-ED53-55AA-1E701B6FF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688" y="2048946"/>
            <a:ext cx="3108630" cy="2462630"/>
          </a:xfrm>
          <a:prstGeom prst="rect">
            <a:avLst/>
          </a:prstGeom>
        </p:spPr>
      </p:pic>
      <p:sp>
        <p:nvSpPr>
          <p:cNvPr id="2" name="Título 2">
            <a:extLst>
              <a:ext uri="{FF2B5EF4-FFF2-40B4-BE49-F238E27FC236}">
                <a16:creationId xmlns:a16="http://schemas.microsoft.com/office/drawing/2014/main" id="{B9278AD6-4753-69AD-C7D6-247F2FAC13C9}"/>
              </a:ext>
            </a:extLst>
          </p:cNvPr>
          <p:cNvSpPr txBox="1">
            <a:spLocks/>
          </p:cNvSpPr>
          <p:nvPr/>
        </p:nvSpPr>
        <p:spPr>
          <a:xfrm>
            <a:off x="0" y="5170776"/>
            <a:ext cx="2180187" cy="2788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emails</a:t>
            </a:r>
            <a:br>
              <a:rPr lang="en-US" dirty="0"/>
            </a:b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F0BC61-2E5B-76B5-9993-2557C62AFFF1}"/>
              </a:ext>
            </a:extLst>
          </p:cNvPr>
          <p:cNvSpPr txBox="1"/>
          <p:nvPr/>
        </p:nvSpPr>
        <p:spPr>
          <a:xfrm>
            <a:off x="502526" y="5551714"/>
            <a:ext cx="4361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cliente@gmail.com</a:t>
            </a:r>
            <a:r>
              <a:rPr lang="es-ES" dirty="0">
                <a:solidFill>
                  <a:schemeClr val="bg1"/>
                </a:solidFill>
              </a:rPr>
              <a:t>		1234</a:t>
            </a:r>
          </a:p>
          <a:p>
            <a:r>
              <a:rPr lang="es-ES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empresa@gmail.com</a:t>
            </a:r>
            <a:r>
              <a:rPr lang="es-ES" dirty="0">
                <a:solidFill>
                  <a:schemeClr val="bg1"/>
                </a:solidFill>
              </a:rPr>
              <a:t>		1234</a:t>
            </a: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3410D479-46C6-101B-7FF6-87E7966BC74C}"/>
              </a:ext>
            </a:extLst>
          </p:cNvPr>
          <p:cNvSpPr txBox="1">
            <a:spLocks/>
          </p:cNvSpPr>
          <p:nvPr/>
        </p:nvSpPr>
        <p:spPr>
          <a:xfrm>
            <a:off x="3142200" y="5170776"/>
            <a:ext cx="2180187" cy="2788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contraseña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E68A-05B5-E58B-DE59-633AC752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DF96471-FBC3-AD16-9F2C-5187BF31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26" y="429500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 err="1"/>
              <a:t>Formularios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065FA1-A86E-24A0-B6AC-B049CB4C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70" y="868753"/>
            <a:ext cx="3933189" cy="51205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A18CA4-ACF8-A75C-02BE-2EEC750EF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2" y="857606"/>
            <a:ext cx="1908148" cy="146991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811C827-7252-0F9A-6BBB-732BFBC9D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545" y="2495158"/>
            <a:ext cx="2921795" cy="22029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8805035-E4F0-4DE6-677D-6EA7E23D0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980" y="4698123"/>
            <a:ext cx="3506340" cy="198411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3F5E160-B6A6-E7C6-5A87-3FC14F5D8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257" y="228805"/>
            <a:ext cx="2794217" cy="209871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8B41497-D258-2FEA-9EE5-8DB8117F83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257" y="2327518"/>
            <a:ext cx="3123941" cy="192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6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488" y="502582"/>
            <a:ext cx="10479024" cy="557784"/>
          </a:xfrm>
        </p:spPr>
        <p:txBody>
          <a:bodyPr rtlCol="0"/>
          <a:lstStyle/>
          <a:p>
            <a:pPr algn="ctr" rtl="0"/>
            <a:r>
              <a:rPr lang="es" dirty="0"/>
              <a:t>JSON Y CARGA DE DATOS</a:t>
            </a:r>
            <a:br>
              <a:rPr lang="en-US" dirty="0"/>
            </a:br>
            <a:endParaRPr lang="en-U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9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39949E-FCD2-CC87-13EC-03B077687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808" y="1319592"/>
            <a:ext cx="2328672" cy="19806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5D675F-6AC6-F2B0-6E2F-C8E766E1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490" y="3750975"/>
            <a:ext cx="3792430" cy="22955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0D6BFC6-9D55-FB9D-74C5-91BC8C1D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2" y="960904"/>
            <a:ext cx="3489242" cy="25985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20B4F10-907B-96C9-A7B6-B52AD2F19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2" y="3750975"/>
            <a:ext cx="2997066" cy="277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466F-078A-B42C-34F8-64E4A806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80E9318-3588-F75E-F21D-6A2C38C2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26" y="429500"/>
            <a:ext cx="10479024" cy="557784"/>
          </a:xfrm>
        </p:spPr>
        <p:txBody>
          <a:bodyPr rtlCol="0"/>
          <a:lstStyle/>
          <a:p>
            <a:pPr algn="ctr" rtl="0"/>
            <a:r>
              <a:rPr lang="en-US" dirty="0"/>
              <a:t>TRELLO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A89C28-25EE-631D-5FE4-CC419B4A6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89" y="1337784"/>
            <a:ext cx="2208714" cy="50907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8AFF6C0-D34B-76AC-742D-890ED2C9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635" y="2043914"/>
            <a:ext cx="2543530" cy="347711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DDCAD93-D23A-F7D2-FD2E-8F6923D16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69" y="1136438"/>
            <a:ext cx="2149900" cy="529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58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44" y="548372"/>
            <a:ext cx="10479024" cy="557784"/>
          </a:xfrm>
        </p:spPr>
        <p:txBody>
          <a:bodyPr rtlCol="0"/>
          <a:lstStyle/>
          <a:p>
            <a:pPr algn="ctr" rtl="0"/>
            <a:r>
              <a:rPr lang="es" dirty="0"/>
              <a:t>enlaces</a:t>
            </a:r>
            <a:br>
              <a:rPr lang="en-US" dirty="0"/>
            </a:br>
            <a:endParaRPr lang="en-US" dirty="0"/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A26A441D-413E-D018-529D-98666ABE6A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8912" y="1454191"/>
            <a:ext cx="10479024" cy="4480560"/>
          </a:xfrm>
        </p:spPr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es" dirty="0"/>
              <a:t>Enlace a Figma (Mockups):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b="0" i="0" u="sng" dirty="0">
                <a:effectLst/>
                <a:latin typeface="-apple-system"/>
                <a:hlinkClick r:id="rId2"/>
              </a:rPr>
              <a:t>https://www.figma.com/design/M87p0PfJuhE1bq51WpVQs4/Reserly?node-id=0-1&amp;t=6vBebie4Pjv9fZOe-1</a:t>
            </a:r>
            <a:endParaRPr lang="es-ES" b="0" i="0" u="sng" dirty="0"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es" dirty="0"/>
              <a:t>Enlace  a GitHub: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0" i="0" u="sng" dirty="0">
                <a:effectLst/>
                <a:latin typeface="inherit"/>
                <a:hlinkClick r:id="rId3" tooltip="https://github.com/AythamiPV/Reserly/tree/sprint2"/>
              </a:rPr>
              <a:t>https://github.com/AythamiPV/Reserly/tree/sprint2</a:t>
            </a:r>
            <a:endParaRPr lang="es-ES" b="0" i="0" u="sng" dirty="0">
              <a:effectLst/>
              <a:latin typeface="inherit"/>
            </a:endParaRPr>
          </a:p>
          <a:p>
            <a:pPr marL="457200" lvl="1" indent="0">
              <a:buNone/>
            </a:pPr>
            <a:r>
              <a:rPr lang="es" dirty="0"/>
              <a:t>Enlace al vídeo: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s" dirty="0"/>
          </a:p>
          <a:p>
            <a:pPr>
              <a:buFont typeface="Arial" panose="020B0604020202020204" pitchFamily="34" charset="0"/>
              <a:buChar char="•"/>
            </a:pPr>
            <a:r>
              <a:rPr lang="es" dirty="0"/>
              <a:t>Enlace al trello: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0" i="0" u="sng" dirty="0">
                <a:effectLst/>
                <a:latin typeface="-apple-system"/>
                <a:hlinkClick r:id="rId4"/>
              </a:rPr>
              <a:t>https://trello.com/invite/b/67a62f6bffa16fc46760a77b/ATTI9789d2d7db6ffa16c1a8e1291604a1999397688E/reserly</a:t>
            </a:r>
            <a:endParaRPr lang="es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rtlCol="0"/>
          <a:lstStyle/>
          <a:p>
            <a:pPr rtl="0"/>
            <a:fld id="{B67B645E-C5E5-4727-B977-D372A0AA71D9}" type="slidenum">
              <a:rPr lang="en-US" smtClean="0"/>
              <a:pPr rtl="0"/>
              <a:t>11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C89BD4-5A81-4567-7E45-7721CB1A9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510" y="35101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43.8_Video_sprint2_Francisco_Aythami_Nicolas.mp4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" dirty="0"/>
              <a:t>Muchas</a:t>
            </a:r>
            <a:br>
              <a:rPr lang="en-US" dirty="0"/>
            </a:br>
            <a:r>
              <a:rPr lang="es" dirty="0"/>
              <a:t>gracias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64EF33A-985F-1552-741F-EC25D85B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656" y="1341676"/>
            <a:ext cx="7685524" cy="49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http://schemas.microsoft.com/sharepoint/v3"/>
    <ds:schemaRef ds:uri="16c05727-aa75-4e4a-9b5f-8a80a1165891"/>
    <ds:schemaRef ds:uri="http://schemas.microsoft.com/office/2006/metadata/properties"/>
    <ds:schemaRef ds:uri="71af3243-3dd4-4a8d-8c0d-dd76da1f02a5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230e9df3-be65-4c73-a93b-d1236ebd677e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colores corporativos</Template>
  <TotalTime>510</TotalTime>
  <Words>190</Words>
  <Application>Microsoft Office PowerPoint</Application>
  <PresentationFormat>Panorámica</PresentationFormat>
  <Paragraphs>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-apple-system</vt:lpstr>
      <vt:lpstr>Aptos</vt:lpstr>
      <vt:lpstr>Aptos Light</vt:lpstr>
      <vt:lpstr>Arial</vt:lpstr>
      <vt:lpstr>Calibri</vt:lpstr>
      <vt:lpstr>inherit</vt:lpstr>
      <vt:lpstr>Personalizar</vt:lpstr>
      <vt:lpstr>Francisco Malillos castellano,aythami pérez vega y nicolás ruiz barreto  </vt:lpstr>
      <vt:lpstr>INDICE</vt:lpstr>
      <vt:lpstr>EVOLUCIÓN DE LAS INTERFACES </vt:lpstr>
      <vt:lpstr>EVOLUCIÓN DE LAS INTERFACES </vt:lpstr>
      <vt:lpstr>EVOLUCIÓN DE LAS INTERFACES</vt:lpstr>
      <vt:lpstr>Explicación de los cambios realizados a nivel de código  </vt:lpstr>
      <vt:lpstr>Formularios </vt:lpstr>
      <vt:lpstr>Formularios </vt:lpstr>
      <vt:lpstr>JSON Y CARGA DE DATOS </vt:lpstr>
      <vt:lpstr>TRELLO </vt:lpstr>
      <vt:lpstr>enlaces 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pancho malillos</dc:creator>
  <cp:lastModifiedBy>pancho malillos</cp:lastModifiedBy>
  <cp:revision>10</cp:revision>
  <dcterms:created xsi:type="dcterms:W3CDTF">2025-03-01T19:40:21Z</dcterms:created>
  <dcterms:modified xsi:type="dcterms:W3CDTF">2025-03-30T20:19:49Z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